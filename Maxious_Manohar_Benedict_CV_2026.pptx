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Update location line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hyperlink" Target="https://www.linkedin.com/in/maxious-manohar-benedict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hyperlink" Target="https://www.linkedin.com/in/maxious-manohar-benedict/" TargetMode="External"/><Relationship Id="rId9" Type="http://schemas.openxmlformats.org/officeDocument/2006/relationships/image" Target="../media/image-8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VITAE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Maxious Manohar Benedict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Transformation Leader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>
                <a:latin typeface="Calibri"/>
              </a:rPr>
              <a:t>Target Operating Models  ·  AI Value Stream Engineering  ·  Operational Oversight</a:t>
            </a:r>
            <a:endParaRPr lang="en-US" sz="1600" dirty="0"/>
          </a:p>
          <a:p>
            <a:r>
              <a:rPr sz="1300">
                <a:solidFill>
                  <a:srgbClr val="0284C7"/>
                </a:solidFill>
                <a:latin typeface="Calibri"/>
              </a:rPr>
              <a:t>Dubai, United Arab Emirates (Singapore Permanent Resident)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30M+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business built from USD 0.5M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36576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526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led across 5 business units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806440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5760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manohar.benedict@gmail.com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580644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434840" y="5760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>
                <a:latin typeface="Calibri"/>
              </a:rPr>
              <a:t>+971 527 752 927  ·  +65 8925 4729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806440"/>
            <a:ext cx="256032" cy="256032"/>
          </a:xfrm>
          <a:prstGeom prst="rect">
            <a:avLst/>
          </a:prstGeom>
        </p:spPr>
      </p:pic>
      <p:sp>
        <p:nvSpPr>
          <p:cNvPr id="20" name="Text 15">
            <a:hlinkClick r:id="rId4" tooltip=""/>
          </p:cNvPr>
          <p:cNvSpPr txBox="1"/>
          <p:nvPr/>
        </p:nvSpPr>
        <p:spPr>
          <a:xfrm>
            <a:off x="6858000" y="5760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linkedin.com/in/maxious-manohar-benedict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5D6677"/>
                </a:solidFill>
                <a:latin typeface="Calibri"/>
              </a:rPr>
              <a:t>Target Operating Model (TOM) Redesign: From Value Stream Mapping to AI Production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sz="1300">
                <a:solidFill>
                  <a:srgbClr val="1E2430"/>
                </a:solidFill>
                <a:latin typeface="Calibri"/>
              </a:rPr>
              <a:t>Enterprise transformation leader with 28+ years redesigning Target Operating Models (TOM) and end-to-end information value streams across banking, retail, and global enterprises.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sz="1300">
                <a:solidFill>
                  <a:srgbClr val="1E2430"/>
                </a:solidFill>
                <a:latin typeface="Calibri"/>
              </a:rPr>
              <a:t>AI Transformation Thesis: Wraps legacy lego blocks (ERP, core ledgers, middle-office) with AI agents, establishing real-time operational oversight probes and human-in-the-loop guardrails.</a:t>
            </a:r>
            <a:endParaRPr lang="en-US" sz="1500" dirty="0"/>
          </a:p>
          <a:p>
            <a:pPr indent="0" marL="0">
              <a:buNone/>
            </a:pPr>
            <a:r>
              <a:rPr sz="1300">
                <a:solidFill>
                  <a:srgbClr val="1E2430"/>
                </a:solidFill>
                <a:latin typeface="Calibri"/>
              </a:rPr>
              <a:t>Track record: Built a USD 30M+ services business; delivered identity, banking, CWS AI surveillance, and agentic engineering (Claude Code, LangGraph) at Stardomes.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6459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52160" y="1874520"/>
            <a:ext cx="548640" cy="54864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37960" y="1847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Target Operating Model (TOM)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Value stream mapping, legacy wrapping, SLA oversight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32520" y="16459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915400" y="1874520"/>
            <a:ext cx="548640" cy="54864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011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601200" y="1847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Agentic AI Delivery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91540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Claude Code, LangGraph, agentic workflows, HITL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0" y="3246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852160" y="3474720"/>
            <a:ext cx="548640" cy="54864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6118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3796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Operational Oversight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85216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Probes, audit telemetry, guardrails, balance checks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732520" y="32461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8915400" y="3474720"/>
            <a:ext cx="548640" cy="54864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6118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0" y="3447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AI-Ready Data &amp; Compute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91540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Iceberg, Trino, MinIO, GPU clusters, NVIDIA NIM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669280" y="48463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5852160" y="5074920"/>
            <a:ext cx="548640" cy="54864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52120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537960" y="50474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Identity &amp; Zero Trust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Custom IdP, out-of-band 2FA, OAuth 2.0/OIDC, audit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732520" y="48463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8915400" y="5074920"/>
            <a:ext cx="548640" cy="54864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  <p:txBody>
          <a:bodyPr/>
          <a:p/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21208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601200" y="50474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/>
              <a:t>Enterprise Core &amp; BFSI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91540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Core ledgers, reconciliations, batch, regulatory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>
                <a:solidFill>
                  <a:srgbClr val="161B26"/>
                </a:solidFill>
                <a:latin typeface="Cambria"/>
              </a:rPr>
              <a:t>Stardomes  |  Dubai, United Arab Emirates  |  April 2025 - Present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>
                <a:solidFill>
                  <a:srgbClr val="5D6677"/>
                </a:solidFill>
                <a:latin typeface="Calibri"/>
              </a:rPr>
              <a:t>Chief Technology Officer / Head of Platform Architecture  ·  Secure Platform Architecture &amp; Agentic Delivery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7739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 + 2FA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2FA binding between banking backend and IdP: registration and deregistration flows, MFA session and audit data models, API contracts.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28800"/>
            <a:ext cx="594360" cy="59436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9773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(web + mobile)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56032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IdP across OAuth 2.0/OIDC, enrolment state machines and maker-checker approvals. Web app in React, TypeScript, Vite, Redux Toolkit.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5661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594360" cy="594360"/>
          </a:xfrm>
          <a:prstGeom prst="ellipse">
            <a:avLst/>
          </a:prstGeom>
          <a:solidFill>
            <a:srgbClr val="FCE7C4"/>
          </a:solidFill>
          <a:ln w="12700">
            <a:solidFill>
              <a:srgbClr val="FCE7C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9773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161B26"/>
                </a:solidFill>
                <a:latin typeface="Calibri"/>
              </a:rPr>
              <a:t>CWS &amp; Satcom IoT Firmware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56032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>
                <a:solidFill>
                  <a:srgbClr val="1E2430"/>
                </a:solidFill>
                <a:latin typeface="Calibri"/>
              </a:rPr>
              <a:t>Architected CWS (Connect Watch Secure) AI command platform fusing edge inferencing with satcom telemetry; led IoT firmware &amp; BLE broadcast emulator.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3FB8AF"/>
          </a:solidFill>
          <a:ln w="12700">
            <a:solidFill>
              <a:srgbClr val="3FB8A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09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572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Agent-driven engineering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specification-driven agent workstreams (5 backend, 5 frontend) executed by Claude Code; agentic QA with Playwright, Appium and Postman/Newman orchestrated by LangGraph.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63640" y="43891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92240" y="457200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7091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78040" y="4572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compute: DRDO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492240" y="52120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scoping of an AI GPU cluster: two companion RFPs (facility, power and cooling; compute, storage, network, management) and custom GPU and NVMe server design with QMax Systems.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161B26"/>
                </a:solidFill>
                <a:latin typeface="Cambria"/>
              </a:rPr>
              <a:t>AI and Data Advisory  |  May 2024 - Feb 2025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technology consultant and advisor, Singapore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bank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AI compute with GPU pods for NVIDIA NIM inference.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0688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InnData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natural-language-to-SQL; 35-node, 1 PB banking lakehouse.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0688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Botminds.ai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loan-origination workflows with AI ICR/OCR for a MUFG-group bank.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4462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297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PCC-AI (UK)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Conveyancing automation: ingestion, examination engines, HM Land Registry integration.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9768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44627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297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Infigos / Sinarmas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rules and group-wide synthetic-identity fraud-ring database; IFRS 17.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297680"/>
            <a:ext cx="594360" cy="59436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44627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297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Talos bare-metal Kubernetes, S3 archival, blockchain and Relay (relayd.run).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Journey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latin typeface="Calibri"/>
              </a:rPr>
              <a:t>Three decades: from hub-and-spoke operating models to autonomous AI value streams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3566160"/>
            <a:ext cx="9966960" cy="0"/>
          </a:xfrm>
          <a:prstGeom prst="line">
            <a:avLst/>
          </a:prstGeom>
          <a:noFill/>
          <a:ln w="38100">
            <a:solidFill>
              <a:srgbClr val="D9DD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167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2427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735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11630" y="4315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Chartered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1163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100">
                <a:latin typeface="Calibri"/>
              </a:rPr>
              <a:t>Systems Analyst to Product Manager (Global Hub &amp; Spoke Centralization)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014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32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57500" y="2167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OCBC Bank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750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 Lead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1601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4909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103370" y="4315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Emerio / NTT DBS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0337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Delivery and 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6188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949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167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Indonesia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Leader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0775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083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95110" y="4315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Lentra.ai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9511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Solution Leader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5362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8670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840980" y="2167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4098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Executive, APAC GTM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99498" y="3447288"/>
            <a:ext cx="237744" cy="237744"/>
          </a:xfrm>
          <a:prstGeom prst="ellipse">
            <a:avLst/>
          </a:prstGeom>
          <a:solidFill>
            <a:srgbClr val="161B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3257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086850" y="4315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086850" y="4800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100">
                <a:latin typeface="Calibri"/>
              </a:rPr>
              <a:t>AI &amp; Data Advisor (May 2024 - Feb 2025)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45368" y="3447288"/>
            <a:ext cx="237744" cy="237744"/>
          </a:xfrm>
          <a:prstGeom prst="ellipse">
            <a:avLst/>
          </a:prstGeom>
          <a:solidFill>
            <a:srgbClr val="F2A3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784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7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0332720" y="2167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Stardomes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33272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AI delivery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>
                <a:solidFill>
                  <a:srgbClr val="5D6677"/>
                </a:solidFill>
                <a:latin typeface="Calibri"/>
              </a:rPr>
              <a:t>Singapore  ·  Chennai  ·  Jakarta  ·  Dubai  ·  APAC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at Scale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outcomes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60x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growth: USD 0.5M to 30M+ at Emerio (2007-2020)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B8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 year for 50+ customers, under 5% schedule and cost variance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834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deduplicated for a top Philippine e-wallet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B8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PB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lakehouse designed across 35 nodes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live on Antasena reporting; 2 named best implementers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206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B8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130+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120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digital transformation team led at NTT Indonesia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Domain Toolkit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7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(Llama, Hugging Face), RAG, vector databases, NVIDIA NIM, RAPIDS, LangGraph, Claude Code, ICR/OCR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Iceberg, Hudi, Trino, Dremio, Databricks, Snowflake, Fabric, ClickHouse, Spark, Kafka, MinIO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7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and cloud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GCP, Kubernetes, Talos, GPU clusters, NVMe storage, Terraform, Ansible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security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300">
                <a:solidFill>
                  <a:srgbClr val="1E2430"/>
                </a:solidFill>
                <a:latin typeface="Calibri"/>
              </a:rPr>
              <a:t>OAuth 2.0, OIDC, MFA/2FA, IdP design, maker-checker, audit logging, BLE GATT protocols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7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TypeScript, React, Java, C/C++, Playwright, Appium, Postman/Newman, GitLab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7548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Operating Model &amp; Governance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200"/>
              <a:t>Target Operating Models (TOM), value stream mapping, legacy wrapping, operational oversight probes, HITL guardrails, Basel II/III/IV, IFRS 9/17, OJK Antesena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533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Blockchain Strategy Programme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733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Saïd Business School, University of Oxford  ·  2022  ·  88%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2219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Mathematics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542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Loyola College, Chennai  ·  1994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906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Diploma in Software Engineering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410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Industries, Chennai  ·  1993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9593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Computer Applications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279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 Education, United Kingdom  ·  1992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98080" y="137160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232B3B"/>
          </a:solidFill>
          <a:ln w="12700">
            <a:solidFill>
              <a:srgbClr val="232B3B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81812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</a:t>
            </a:r>
            <a:endParaRPr lang="en-US" sz="2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414016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377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manohar.benedict@gmail.com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91693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229600" y="2880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>
                <a:latin typeface="Calibri"/>
              </a:rPr>
              <a:t>+971 527 752 927  ·  +65 8925 4729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419856"/>
            <a:ext cx="237744" cy="237744"/>
          </a:xfrm>
          <a:prstGeom prst="rect">
            <a:avLst/>
          </a:prstGeom>
        </p:spPr>
      </p:pic>
      <p:sp>
        <p:nvSpPr>
          <p:cNvPr id="26" name="Text 17">
            <a:hlinkClick r:id="rId8" tooltip=""/>
          </p:cNvPr>
          <p:cNvSpPr txBox="1"/>
          <p:nvPr/>
        </p:nvSpPr>
        <p:spPr>
          <a:xfrm>
            <a:off x="8229600" y="3383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profile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922776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229600" y="3886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00">
                <a:latin typeface="Calibri"/>
              </a:rPr>
              <a:t>Dubai, UAE (Singapore Permanent Resident)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training: IFRS 9 (PwC)  ·  Information Security and Risk Management (Standard Chartered)  ·  CMM Level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Maxious Manohar Benedict - Enterprise AI Transformation Leader</dc:title>
  <dc:subject>PptxGenJS Presentation</dc:subject>
  <dc:creator>Maxious Manohar Benedict</dc:creator>
  <cp:lastModifiedBy>Maxious Manohar Benedict</cp:lastModifiedBy>
  <cp:revision>1</cp:revision>
  <dcterms:created xsi:type="dcterms:W3CDTF">2026-10-01T08:14:48Z</dcterms:created>
  <dcterms:modified xsi:type="dcterms:W3CDTF">2026-10-01T08:14:48Z</dcterms:modified>
</cp:coreProperties>
</file>